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3" d="100"/>
          <a:sy n="83" d="100"/>
        </p:scale>
        <p:origin x="658"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966960" y="146304"/>
            <a:ext cx="2224735" cy="6711696"/>
          </a:xfrm>
          <a:prstGeom prst="rect">
            <a:avLst/>
          </a:prstGeom>
          <a:solidFill>
            <a:srgbClr val="143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55080"/>
            <a:ext cx="12191695" cy="502920"/>
          </a:xfrm>
          <a:prstGeom prst="rect">
            <a:avLst/>
          </a:prstGeom>
          <a:solidFill>
            <a:srgbClr val="143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143000"/>
            <a:ext cx="8869680" cy="1371600"/>
          </a:xfrm>
          <a:prstGeom prst="rect">
            <a:avLst/>
          </a:prstGeom>
          <a:noFill/>
        </p:spPr>
        <p:txBody>
          <a:bodyPr wrap="none">
            <a:spAutoFit/>
          </a:bodyPr>
          <a:lstStyle/>
          <a:p>
            <a:pPr>
              <a:defRPr sz="3500" b="1">
                <a:solidFill>
                  <a:srgbClr val="FFFFFF"/>
                </a:solidFill>
                <a:latin typeface="Aptos Display"/>
              </a:defRPr>
            </a:pPr>
            <a:r>
              <a:t>Hospital Bed (or)</a:t>
            </a:r>
            <a:br/>
            <a:r>
              <a:t>Operation Room Scheduling</a:t>
            </a:r>
          </a:p>
        </p:txBody>
      </p:sp>
      <p:sp>
        <p:nvSpPr>
          <p:cNvPr id="6" name="TextBox 5"/>
          <p:cNvSpPr txBox="1"/>
          <p:nvPr/>
        </p:nvSpPr>
        <p:spPr>
          <a:xfrm>
            <a:off x="822960" y="2788920"/>
            <a:ext cx="8046720" cy="640080"/>
          </a:xfrm>
          <a:prstGeom prst="rect">
            <a:avLst/>
          </a:prstGeom>
          <a:noFill/>
        </p:spPr>
        <p:txBody>
          <a:bodyPr wrap="none">
            <a:spAutoFit/>
          </a:bodyPr>
          <a:lstStyle/>
          <a:p>
            <a:pPr>
              <a:defRPr sz="1800">
                <a:solidFill>
                  <a:srgbClr val="CDDCEE"/>
                </a:solidFill>
                <a:latin typeface="Aptos"/>
              </a:defRPr>
            </a:pPr>
            <a:r>
              <a:t>Data Structures and Algorithms – 3 (25CS2103E)</a:t>
            </a:r>
          </a:p>
        </p:txBody>
      </p:sp>
      <p:sp>
        <p:nvSpPr>
          <p:cNvPr id="7" name="TextBox 6"/>
          <p:cNvSpPr txBox="1"/>
          <p:nvPr/>
        </p:nvSpPr>
        <p:spPr>
          <a:xfrm>
            <a:off x="822960" y="3794760"/>
            <a:ext cx="8138160" cy="1828800"/>
          </a:xfrm>
          <a:prstGeom prst="rect">
            <a:avLst/>
          </a:prstGeom>
          <a:noFill/>
        </p:spPr>
        <p:txBody>
          <a:bodyPr wrap="square">
            <a:spAutoFit/>
          </a:bodyPr>
          <a:lstStyle/>
          <a:p>
            <a:pPr>
              <a:spcAft>
                <a:spcPts val="600"/>
              </a:spcAft>
              <a:defRPr sz="1900" b="1">
                <a:solidFill>
                  <a:srgbClr val="FFFFFF"/>
                </a:solidFill>
                <a:latin typeface="Aptos"/>
              </a:defRPr>
            </a:pPr>
            <a:r>
              <a:t>Team Members</a:t>
            </a:r>
          </a:p>
          <a:p>
            <a:pPr>
              <a:spcAft>
                <a:spcPts val="600"/>
              </a:spcAft>
              <a:defRPr sz="1600" b="0">
                <a:solidFill>
                  <a:srgbClr val="DCE6F2"/>
                </a:solidFill>
                <a:latin typeface="Aptos"/>
              </a:defRPr>
            </a:pPr>
            <a:r>
              <a:t>K Chaitanya Ram (2520090106)</a:t>
            </a:r>
          </a:p>
          <a:p>
            <a:pPr>
              <a:spcAft>
                <a:spcPts val="600"/>
              </a:spcAft>
              <a:defRPr sz="1600" b="0">
                <a:solidFill>
                  <a:srgbClr val="DCE6F2"/>
                </a:solidFill>
                <a:latin typeface="Aptos"/>
              </a:defRPr>
            </a:pPr>
            <a:r>
              <a:t>Tejasreddy K (2520080027)</a:t>
            </a:r>
          </a:p>
          <a:p>
            <a:pPr>
              <a:spcAft>
                <a:spcPts val="600"/>
              </a:spcAft>
              <a:defRPr sz="1500" b="0">
                <a:solidFill>
                  <a:srgbClr val="DCE6F2"/>
                </a:solidFill>
                <a:latin typeface="Aptos"/>
              </a:defRPr>
            </a:pPr>
            <a:r>
              <a:t>Team Number: 3  |  Section: 12</a:t>
            </a:r>
          </a:p>
          <a:p>
            <a:pPr>
              <a:spcAft>
                <a:spcPts val="600"/>
              </a:spcAft>
              <a:defRPr sz="1600" b="0">
                <a:solidFill>
                  <a:srgbClr val="DCE6F2"/>
                </a:solidFill>
                <a:latin typeface="Aptos"/>
              </a:defRPr>
            </a:pPr>
            <a:r>
              <a:t>Guide: Mrs. K. Chandusha, Asst. Prof., CSIT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607040" cy="594360"/>
          </a:xfrm>
          <a:prstGeom prst="rect">
            <a:avLst/>
          </a:prstGeom>
          <a:noFill/>
        </p:spPr>
        <p:txBody>
          <a:bodyPr wrap="none">
            <a:spAutoFit/>
          </a:bodyPr>
          <a:lstStyle/>
          <a:p>
            <a:pPr>
              <a:defRPr sz="2800" b="1">
                <a:solidFill>
                  <a:srgbClr val="0F233C"/>
                </a:solidFill>
                <a:latin typeface="Aptos Display"/>
              </a:defRPr>
            </a:pPr>
            <a:r>
              <a:t>Abstract</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latin typeface="Aptos"/>
              </a:defRPr>
            </a:pPr>
            <a:r>
              <a:t>2</a:t>
            </a:r>
          </a:p>
        </p:txBody>
      </p:sp>
      <p:sp>
        <p:nvSpPr>
          <p:cNvPr id="5" name="Rounded Rectangle 4"/>
          <p:cNvSpPr/>
          <p:nvPr/>
        </p:nvSpPr>
        <p:spPr>
          <a:xfrm>
            <a:off x="731520" y="1143000"/>
            <a:ext cx="1074420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143000"/>
            <a:ext cx="73152" cy="13258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07592"/>
            <a:ext cx="10332720" cy="384048"/>
          </a:xfrm>
          <a:prstGeom prst="rect">
            <a:avLst/>
          </a:prstGeom>
          <a:noFill/>
        </p:spPr>
        <p:txBody>
          <a:bodyPr wrap="none">
            <a:spAutoFit/>
          </a:bodyPr>
          <a:lstStyle/>
          <a:p>
            <a:pPr>
              <a:defRPr sz="1700" b="1">
                <a:solidFill>
                  <a:srgbClr val="0F233C"/>
                </a:solidFill>
                <a:latin typeface="Aptos"/>
              </a:defRPr>
            </a:pPr>
            <a:r>
              <a:t>Purpose</a:t>
            </a:r>
          </a:p>
        </p:txBody>
      </p:sp>
      <p:sp>
        <p:nvSpPr>
          <p:cNvPr id="8" name="TextBox 7"/>
          <p:cNvSpPr txBox="1"/>
          <p:nvPr/>
        </p:nvSpPr>
        <p:spPr>
          <a:xfrm>
            <a:off x="960120" y="1801368"/>
            <a:ext cx="10332720" cy="502919"/>
          </a:xfrm>
          <a:prstGeom prst="rect">
            <a:avLst/>
          </a:prstGeom>
          <a:noFill/>
        </p:spPr>
        <p:txBody>
          <a:bodyPr wrap="square">
            <a:spAutoFit/>
          </a:bodyPr>
          <a:lstStyle/>
          <a:p>
            <a:pPr>
              <a:lnSpc>
                <a:spcPct val="105000"/>
              </a:lnSpc>
              <a:defRPr sz="1300">
                <a:solidFill>
                  <a:srgbClr val="232D37"/>
                </a:solidFill>
                <a:latin typeface="Aptos"/>
              </a:defRPr>
            </a:pPr>
            <a:r>
              <a:t>The project proposes an automated system for efficient allocation of hospital beds and operating rooms. It considers treatment duration, patient priority, doctor and staff availability, and resource capacity.</a:t>
            </a:r>
          </a:p>
        </p:txBody>
      </p:sp>
      <p:sp>
        <p:nvSpPr>
          <p:cNvPr id="9" name="Rounded Rectangle 8"/>
          <p:cNvSpPr/>
          <p:nvPr/>
        </p:nvSpPr>
        <p:spPr>
          <a:xfrm>
            <a:off x="731520" y="2697480"/>
            <a:ext cx="1074420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697480"/>
            <a:ext cx="73152" cy="1508760"/>
          </a:xfrm>
          <a:prstGeom prst="rect">
            <a:avLst/>
          </a:prstGeom>
          <a:solidFill>
            <a:srgbClr val="23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862072"/>
            <a:ext cx="10332720" cy="384048"/>
          </a:xfrm>
          <a:prstGeom prst="rect">
            <a:avLst/>
          </a:prstGeom>
          <a:noFill/>
        </p:spPr>
        <p:txBody>
          <a:bodyPr wrap="none">
            <a:spAutoFit/>
          </a:bodyPr>
          <a:lstStyle/>
          <a:p>
            <a:pPr>
              <a:defRPr sz="1700" b="1">
                <a:solidFill>
                  <a:srgbClr val="0F233C"/>
                </a:solidFill>
                <a:latin typeface="Aptos"/>
              </a:defRPr>
            </a:pPr>
            <a:r>
              <a:t>Scheduling Engine</a:t>
            </a:r>
          </a:p>
        </p:txBody>
      </p:sp>
      <p:sp>
        <p:nvSpPr>
          <p:cNvPr id="12" name="TextBox 11"/>
          <p:cNvSpPr txBox="1"/>
          <p:nvPr/>
        </p:nvSpPr>
        <p:spPr>
          <a:xfrm>
            <a:off x="960120" y="3355848"/>
            <a:ext cx="10332720" cy="685799"/>
          </a:xfrm>
          <a:prstGeom prst="rect">
            <a:avLst/>
          </a:prstGeom>
          <a:noFill/>
        </p:spPr>
        <p:txBody>
          <a:bodyPr wrap="square">
            <a:spAutoFit/>
          </a:bodyPr>
          <a:lstStyle/>
          <a:p>
            <a:pPr>
              <a:lnSpc>
                <a:spcPct val="105000"/>
              </a:lnSpc>
              <a:defRPr sz="1300">
                <a:solidFill>
                  <a:srgbClr val="232D37"/>
                </a:solidFill>
                <a:latin typeface="Aptos"/>
              </a:defRPr>
            </a:pPr>
            <a:r>
              <a:t>An optimization and approximation based scheduling engine generates near-optimal schedules for planned and emergency admissions. It continuously monitors resource availability and adjusts schedules for emergencies, cancellations, and other changes.</a:t>
            </a:r>
          </a:p>
        </p:txBody>
      </p:sp>
      <p:sp>
        <p:nvSpPr>
          <p:cNvPr id="13" name="Rounded Rectangle 12"/>
          <p:cNvSpPr/>
          <p:nvPr/>
        </p:nvSpPr>
        <p:spPr>
          <a:xfrm>
            <a:off x="731520" y="4434840"/>
            <a:ext cx="1074420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4434840"/>
            <a:ext cx="73152" cy="13258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599431"/>
            <a:ext cx="10332720" cy="384048"/>
          </a:xfrm>
          <a:prstGeom prst="rect">
            <a:avLst/>
          </a:prstGeom>
          <a:noFill/>
        </p:spPr>
        <p:txBody>
          <a:bodyPr wrap="none">
            <a:spAutoFit/>
          </a:bodyPr>
          <a:lstStyle/>
          <a:p>
            <a:pPr>
              <a:defRPr sz="1700" b="1">
                <a:solidFill>
                  <a:srgbClr val="0F233C"/>
                </a:solidFill>
                <a:latin typeface="Aptos"/>
              </a:defRPr>
            </a:pPr>
            <a:r>
              <a:t>Expected Benefits</a:t>
            </a:r>
          </a:p>
        </p:txBody>
      </p:sp>
      <p:sp>
        <p:nvSpPr>
          <p:cNvPr id="16" name="TextBox 15"/>
          <p:cNvSpPr txBox="1"/>
          <p:nvPr/>
        </p:nvSpPr>
        <p:spPr>
          <a:xfrm>
            <a:off x="960120" y="5093207"/>
            <a:ext cx="10332720" cy="502919"/>
          </a:xfrm>
          <a:prstGeom prst="rect">
            <a:avLst/>
          </a:prstGeom>
          <a:noFill/>
        </p:spPr>
        <p:txBody>
          <a:bodyPr wrap="square">
            <a:spAutoFit/>
          </a:bodyPr>
          <a:lstStyle/>
          <a:p>
            <a:pPr>
              <a:lnSpc>
                <a:spcPct val="105000"/>
              </a:lnSpc>
              <a:defRPr sz="1300">
                <a:solidFill>
                  <a:srgbClr val="232D37"/>
                </a:solidFill>
                <a:latin typeface="Aptos"/>
              </a:defRPr>
            </a:pPr>
            <a:r>
              <a:t>The administrator dashboard provides up-to-date information on beds, operating rooms, staff, and patients, while reports measure resource utilization and average waiting time. The goal is to reduce scheduling errors, improve hospital productivity, and deliver efficient healthcare services.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607040" cy="594360"/>
          </a:xfrm>
          <a:prstGeom prst="rect">
            <a:avLst/>
          </a:prstGeom>
          <a:noFill/>
        </p:spPr>
        <p:txBody>
          <a:bodyPr wrap="none">
            <a:spAutoFit/>
          </a:bodyPr>
          <a:lstStyle/>
          <a:p>
            <a:pPr>
              <a:defRPr sz="2800" b="1">
                <a:solidFill>
                  <a:srgbClr val="0F233C"/>
                </a:solidFill>
                <a:latin typeface="Aptos Display"/>
              </a:defRPr>
            </a:pPr>
            <a:r>
              <a:t>Introduction</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latin typeface="Aptos"/>
              </a:defRPr>
            </a:pPr>
            <a:r>
              <a:t>3</a:t>
            </a:r>
          </a:p>
        </p:txBody>
      </p:sp>
      <p:sp>
        <p:nvSpPr>
          <p:cNvPr id="5" name="TextBox 4"/>
          <p:cNvSpPr txBox="1"/>
          <p:nvPr/>
        </p:nvSpPr>
        <p:spPr>
          <a:xfrm>
            <a:off x="777240" y="1188720"/>
            <a:ext cx="10698480" cy="5029200"/>
          </a:xfrm>
          <a:prstGeom prst="rect">
            <a:avLst/>
          </a:prstGeom>
          <a:noFill/>
        </p:spPr>
        <p:txBody>
          <a:bodyPr wrap="square" lIns="73152" tIns="27432" rIns="45720">
            <a:spAutoFit/>
          </a:bodyPr>
          <a:lstStyle/>
          <a:p>
            <a:pPr>
              <a:lnSpc>
                <a:spcPct val="105000"/>
              </a:lnSpc>
              <a:spcAft>
                <a:spcPts val="1000"/>
              </a:spcAft>
              <a:defRPr sz="1800" b="0">
                <a:solidFill>
                  <a:srgbClr val="232D37"/>
                </a:solidFill>
                <a:latin typeface="Aptos"/>
              </a:defRPr>
            </a:pPr>
            <a:r>
              <a:t>Hospitals manage limited beds, operating rooms, doctors, and medical staff while serving patients with different priorities.</a:t>
            </a:r>
          </a:p>
          <a:p>
            <a:pPr>
              <a:lnSpc>
                <a:spcPct val="105000"/>
              </a:lnSpc>
              <a:spcAft>
                <a:spcPts val="1000"/>
              </a:spcAft>
              <a:defRPr sz="1800" b="0">
                <a:solidFill>
                  <a:srgbClr val="232D37"/>
                </a:solidFill>
                <a:latin typeface="Aptos"/>
              </a:defRPr>
            </a:pPr>
            <a:r>
              <a:t>Manual scheduling can be time-consuming and may cause conflicts, delays, inefficient resource utilization, and human errors.</a:t>
            </a:r>
          </a:p>
          <a:p>
            <a:pPr>
              <a:lnSpc>
                <a:spcPct val="105000"/>
              </a:lnSpc>
              <a:spcAft>
                <a:spcPts val="1000"/>
              </a:spcAft>
              <a:defRPr sz="1800" b="0">
                <a:solidFill>
                  <a:srgbClr val="232D37"/>
                </a:solidFill>
                <a:latin typeface="Aptos"/>
              </a:defRPr>
            </a:pPr>
            <a:r>
              <a:t>The proposed system automatically allocates beds and operating rooms using multiple scheduling constraints.</a:t>
            </a:r>
          </a:p>
          <a:p>
            <a:pPr>
              <a:lnSpc>
                <a:spcPct val="105000"/>
              </a:lnSpc>
              <a:spcAft>
                <a:spcPts val="1000"/>
              </a:spcAft>
              <a:defRPr sz="1800" b="0">
                <a:solidFill>
                  <a:srgbClr val="232D37"/>
                </a:solidFill>
                <a:latin typeface="Aptos"/>
              </a:defRPr>
            </a:pPr>
            <a:r>
              <a:t>Key constraints include treatment time, patient priority, doctor/staff availability, and bed or operating-room capacity.</a:t>
            </a:r>
          </a:p>
          <a:p>
            <a:pPr>
              <a:lnSpc>
                <a:spcPct val="105000"/>
              </a:lnSpc>
              <a:spcAft>
                <a:spcPts val="1000"/>
              </a:spcAft>
              <a:defRPr sz="1800" b="0">
                <a:solidFill>
                  <a:srgbClr val="232D37"/>
                </a:solidFill>
                <a:latin typeface="Aptos"/>
              </a:defRPr>
            </a:pPr>
            <a:r>
              <a:t>The system supports both planned and emergency admissions and dynamically updates schedules when conditions change.</a:t>
            </a:r>
          </a:p>
          <a:p>
            <a:pPr>
              <a:lnSpc>
                <a:spcPct val="105000"/>
              </a:lnSpc>
              <a:spcAft>
                <a:spcPts val="1000"/>
              </a:spcAft>
              <a:defRPr sz="1800" b="0">
                <a:solidFill>
                  <a:srgbClr val="232D37"/>
                </a:solidFill>
                <a:latin typeface="Aptos"/>
              </a:defRPr>
            </a:pPr>
            <a:r>
              <a:t>An administrator dashboard provides real-time resource information and performance reports.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607040" cy="594360"/>
          </a:xfrm>
          <a:prstGeom prst="rect">
            <a:avLst/>
          </a:prstGeom>
          <a:noFill/>
        </p:spPr>
        <p:txBody>
          <a:bodyPr wrap="none">
            <a:spAutoFit/>
          </a:bodyPr>
          <a:lstStyle/>
          <a:p>
            <a:pPr>
              <a:defRPr sz="2800" b="1">
                <a:solidFill>
                  <a:srgbClr val="0F233C"/>
                </a:solidFill>
                <a:latin typeface="Aptos Display"/>
              </a:defRPr>
            </a:pPr>
            <a:r>
              <a:t>Software Requirements</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latin typeface="Aptos"/>
              </a:defRPr>
            </a:pPr>
            <a:r>
              <a:t>4</a:t>
            </a:r>
          </a:p>
        </p:txBody>
      </p:sp>
      <p:sp>
        <p:nvSpPr>
          <p:cNvPr id="5" name="Rounded Rectangle 4"/>
          <p:cNvSpPr/>
          <p:nvPr/>
        </p:nvSpPr>
        <p:spPr>
          <a:xfrm>
            <a:off x="685800" y="1143000"/>
            <a:ext cx="347472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143000"/>
            <a:ext cx="73152" cy="15087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07592"/>
            <a:ext cx="3063239" cy="384048"/>
          </a:xfrm>
          <a:prstGeom prst="rect">
            <a:avLst/>
          </a:prstGeom>
          <a:noFill/>
        </p:spPr>
        <p:txBody>
          <a:bodyPr wrap="none">
            <a:spAutoFit/>
          </a:bodyPr>
          <a:lstStyle/>
          <a:p>
            <a:pPr>
              <a:defRPr sz="1700" b="1">
                <a:solidFill>
                  <a:srgbClr val="0F233C"/>
                </a:solidFill>
                <a:latin typeface="Aptos"/>
              </a:defRPr>
            </a:pPr>
            <a:r>
              <a:t>Operating System</a:t>
            </a:r>
          </a:p>
        </p:txBody>
      </p:sp>
      <p:sp>
        <p:nvSpPr>
          <p:cNvPr id="8" name="TextBox 7"/>
          <p:cNvSpPr txBox="1"/>
          <p:nvPr/>
        </p:nvSpPr>
        <p:spPr>
          <a:xfrm>
            <a:off x="914400" y="1801368"/>
            <a:ext cx="3063239" cy="685799"/>
          </a:xfrm>
          <a:prstGeom prst="rect">
            <a:avLst/>
          </a:prstGeom>
          <a:noFill/>
        </p:spPr>
        <p:txBody>
          <a:bodyPr wrap="square">
            <a:spAutoFit/>
          </a:bodyPr>
          <a:lstStyle/>
          <a:p>
            <a:pPr>
              <a:lnSpc>
                <a:spcPct val="105000"/>
              </a:lnSpc>
              <a:defRPr sz="1300">
                <a:solidFill>
                  <a:srgbClr val="232D37"/>
                </a:solidFill>
                <a:latin typeface="Aptos"/>
              </a:defRPr>
            </a:pPr>
            <a:r>
              <a:t>Windows 10/11 or Ubuntu Linux</a:t>
            </a:r>
            <a:br/>
            <a:r>
              <a:t>macOS can also be used.</a:t>
            </a:r>
          </a:p>
        </p:txBody>
      </p:sp>
      <p:sp>
        <p:nvSpPr>
          <p:cNvPr id="9" name="Rounded Rectangle 8"/>
          <p:cNvSpPr/>
          <p:nvPr/>
        </p:nvSpPr>
        <p:spPr>
          <a:xfrm>
            <a:off x="4370832" y="1143000"/>
            <a:ext cx="347472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0832" y="1143000"/>
            <a:ext cx="73152" cy="1508760"/>
          </a:xfrm>
          <a:prstGeom prst="rect">
            <a:avLst/>
          </a:prstGeom>
          <a:solidFill>
            <a:srgbClr val="23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9432" y="1307592"/>
            <a:ext cx="3063239" cy="384048"/>
          </a:xfrm>
          <a:prstGeom prst="rect">
            <a:avLst/>
          </a:prstGeom>
          <a:noFill/>
        </p:spPr>
        <p:txBody>
          <a:bodyPr wrap="none">
            <a:spAutoFit/>
          </a:bodyPr>
          <a:lstStyle/>
          <a:p>
            <a:pPr>
              <a:defRPr sz="1700" b="1">
                <a:solidFill>
                  <a:srgbClr val="0F233C"/>
                </a:solidFill>
                <a:latin typeface="Aptos"/>
              </a:defRPr>
            </a:pPr>
            <a:r>
              <a:t>Programming</a:t>
            </a:r>
          </a:p>
        </p:txBody>
      </p:sp>
      <p:sp>
        <p:nvSpPr>
          <p:cNvPr id="12" name="TextBox 11"/>
          <p:cNvSpPr txBox="1"/>
          <p:nvPr/>
        </p:nvSpPr>
        <p:spPr>
          <a:xfrm>
            <a:off x="4599432" y="1801368"/>
            <a:ext cx="3063239" cy="685799"/>
          </a:xfrm>
          <a:prstGeom prst="rect">
            <a:avLst/>
          </a:prstGeom>
          <a:noFill/>
        </p:spPr>
        <p:txBody>
          <a:bodyPr wrap="square">
            <a:spAutoFit/>
          </a:bodyPr>
          <a:lstStyle/>
          <a:p>
            <a:pPr>
              <a:lnSpc>
                <a:spcPct val="105000"/>
              </a:lnSpc>
              <a:defRPr sz="1300">
                <a:solidFill>
                  <a:srgbClr val="232D37"/>
                </a:solidFill>
                <a:latin typeface="Aptos"/>
              </a:defRPr>
            </a:pPr>
            <a:r>
              <a:t>Java for scheduling and DSA implementation.</a:t>
            </a:r>
            <a:br/>
            <a:r>
              <a:t>Python can be used for optimization.</a:t>
            </a:r>
          </a:p>
        </p:txBody>
      </p:sp>
      <p:sp>
        <p:nvSpPr>
          <p:cNvPr id="13" name="Rounded Rectangle 12"/>
          <p:cNvSpPr/>
          <p:nvPr/>
        </p:nvSpPr>
        <p:spPr>
          <a:xfrm>
            <a:off x="8046720" y="1143000"/>
            <a:ext cx="347472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143000"/>
            <a:ext cx="73152" cy="15087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5320" y="1307592"/>
            <a:ext cx="3063239" cy="384048"/>
          </a:xfrm>
          <a:prstGeom prst="rect">
            <a:avLst/>
          </a:prstGeom>
          <a:noFill/>
        </p:spPr>
        <p:txBody>
          <a:bodyPr wrap="none">
            <a:spAutoFit/>
          </a:bodyPr>
          <a:lstStyle/>
          <a:p>
            <a:pPr>
              <a:defRPr sz="1700" b="1">
                <a:solidFill>
                  <a:srgbClr val="0F233C"/>
                </a:solidFill>
                <a:latin typeface="Aptos"/>
              </a:defRPr>
            </a:pPr>
            <a:r>
              <a:t>Frontend</a:t>
            </a:r>
          </a:p>
        </p:txBody>
      </p:sp>
      <p:sp>
        <p:nvSpPr>
          <p:cNvPr id="16" name="TextBox 15"/>
          <p:cNvSpPr txBox="1"/>
          <p:nvPr/>
        </p:nvSpPr>
        <p:spPr>
          <a:xfrm>
            <a:off x="8275320" y="1801368"/>
            <a:ext cx="3063239" cy="685799"/>
          </a:xfrm>
          <a:prstGeom prst="rect">
            <a:avLst/>
          </a:prstGeom>
          <a:noFill/>
        </p:spPr>
        <p:txBody>
          <a:bodyPr wrap="square">
            <a:spAutoFit/>
          </a:bodyPr>
          <a:lstStyle/>
          <a:p>
            <a:pPr>
              <a:lnSpc>
                <a:spcPct val="105000"/>
              </a:lnSpc>
              <a:defRPr sz="1300">
                <a:solidFill>
                  <a:srgbClr val="232D37"/>
                </a:solidFill>
                <a:latin typeface="Aptos"/>
              </a:defRPr>
            </a:pPr>
            <a:r>
              <a:t>HTML5, CSS3, JavaScript</a:t>
            </a:r>
            <a:br/>
            <a:r>
              <a:t>React.js / Bootstrap (optional)</a:t>
            </a:r>
          </a:p>
        </p:txBody>
      </p:sp>
      <p:sp>
        <p:nvSpPr>
          <p:cNvPr id="17" name="Rounded Rectangle 16"/>
          <p:cNvSpPr/>
          <p:nvPr/>
        </p:nvSpPr>
        <p:spPr>
          <a:xfrm>
            <a:off x="685800" y="2926080"/>
            <a:ext cx="347472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5800" y="2926080"/>
            <a:ext cx="73152" cy="1508760"/>
          </a:xfrm>
          <a:prstGeom prst="rect">
            <a:avLst/>
          </a:prstGeom>
          <a:solidFill>
            <a:srgbClr val="23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090672"/>
            <a:ext cx="3063239" cy="384048"/>
          </a:xfrm>
          <a:prstGeom prst="rect">
            <a:avLst/>
          </a:prstGeom>
          <a:noFill/>
        </p:spPr>
        <p:txBody>
          <a:bodyPr wrap="none">
            <a:spAutoFit/>
          </a:bodyPr>
          <a:lstStyle/>
          <a:p>
            <a:pPr>
              <a:defRPr sz="1700" b="1">
                <a:solidFill>
                  <a:srgbClr val="0F233C"/>
                </a:solidFill>
                <a:latin typeface="Aptos"/>
              </a:defRPr>
            </a:pPr>
            <a:r>
              <a:t>Backend</a:t>
            </a:r>
          </a:p>
        </p:txBody>
      </p:sp>
      <p:sp>
        <p:nvSpPr>
          <p:cNvPr id="20" name="TextBox 19"/>
          <p:cNvSpPr txBox="1"/>
          <p:nvPr/>
        </p:nvSpPr>
        <p:spPr>
          <a:xfrm>
            <a:off x="914400" y="3584448"/>
            <a:ext cx="3063239" cy="685799"/>
          </a:xfrm>
          <a:prstGeom prst="rect">
            <a:avLst/>
          </a:prstGeom>
          <a:noFill/>
        </p:spPr>
        <p:txBody>
          <a:bodyPr wrap="square">
            <a:spAutoFit/>
          </a:bodyPr>
          <a:lstStyle/>
          <a:p>
            <a:pPr>
              <a:lnSpc>
                <a:spcPct val="105000"/>
              </a:lnSpc>
              <a:defRPr sz="1300">
                <a:solidFill>
                  <a:srgbClr val="232D37"/>
                </a:solidFill>
                <a:latin typeface="Aptos"/>
              </a:defRPr>
            </a:pPr>
            <a:r>
              <a:t>Java Spring Boot</a:t>
            </a:r>
            <a:br/>
            <a:r>
              <a:t>or Node.js + Express.js</a:t>
            </a:r>
          </a:p>
        </p:txBody>
      </p:sp>
      <p:sp>
        <p:nvSpPr>
          <p:cNvPr id="21" name="Rounded Rectangle 20"/>
          <p:cNvSpPr/>
          <p:nvPr/>
        </p:nvSpPr>
        <p:spPr>
          <a:xfrm>
            <a:off x="4370832" y="2926080"/>
            <a:ext cx="347472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70832" y="2926080"/>
            <a:ext cx="73152" cy="15087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99432" y="3090672"/>
            <a:ext cx="3063239" cy="384048"/>
          </a:xfrm>
          <a:prstGeom prst="rect">
            <a:avLst/>
          </a:prstGeom>
          <a:noFill/>
        </p:spPr>
        <p:txBody>
          <a:bodyPr wrap="none">
            <a:spAutoFit/>
          </a:bodyPr>
          <a:lstStyle/>
          <a:p>
            <a:pPr>
              <a:defRPr sz="1700" b="1">
                <a:solidFill>
                  <a:srgbClr val="0F233C"/>
                </a:solidFill>
                <a:latin typeface="Aptos"/>
              </a:defRPr>
            </a:pPr>
            <a:r>
              <a:t>Database</a:t>
            </a:r>
          </a:p>
        </p:txBody>
      </p:sp>
      <p:sp>
        <p:nvSpPr>
          <p:cNvPr id="24" name="TextBox 23"/>
          <p:cNvSpPr txBox="1"/>
          <p:nvPr/>
        </p:nvSpPr>
        <p:spPr>
          <a:xfrm>
            <a:off x="4599432" y="3584448"/>
            <a:ext cx="3063239" cy="685799"/>
          </a:xfrm>
          <a:prstGeom prst="rect">
            <a:avLst/>
          </a:prstGeom>
          <a:noFill/>
        </p:spPr>
        <p:txBody>
          <a:bodyPr wrap="square">
            <a:spAutoFit/>
          </a:bodyPr>
          <a:lstStyle/>
          <a:p>
            <a:pPr>
              <a:lnSpc>
                <a:spcPct val="105000"/>
              </a:lnSpc>
              <a:defRPr sz="1300">
                <a:solidFill>
                  <a:srgbClr val="232D37"/>
                </a:solidFill>
                <a:latin typeface="Aptos"/>
              </a:defRPr>
            </a:pPr>
            <a:r>
              <a:t>MySQL / PostgreSQL / MongoDB</a:t>
            </a:r>
            <a:br/>
            <a:r>
              <a:t>Stores patients and resource data.</a:t>
            </a:r>
          </a:p>
        </p:txBody>
      </p:sp>
      <p:sp>
        <p:nvSpPr>
          <p:cNvPr id="25" name="Rounded Rectangle 24"/>
          <p:cNvSpPr/>
          <p:nvPr/>
        </p:nvSpPr>
        <p:spPr>
          <a:xfrm>
            <a:off x="8046720" y="2926080"/>
            <a:ext cx="347472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46720" y="2926080"/>
            <a:ext cx="73152" cy="1508760"/>
          </a:xfrm>
          <a:prstGeom prst="rect">
            <a:avLst/>
          </a:prstGeom>
          <a:solidFill>
            <a:srgbClr val="23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75320" y="3090672"/>
            <a:ext cx="3063239" cy="384048"/>
          </a:xfrm>
          <a:prstGeom prst="rect">
            <a:avLst/>
          </a:prstGeom>
          <a:noFill/>
        </p:spPr>
        <p:txBody>
          <a:bodyPr wrap="none">
            <a:spAutoFit/>
          </a:bodyPr>
          <a:lstStyle/>
          <a:p>
            <a:pPr>
              <a:defRPr sz="1700" b="1">
                <a:solidFill>
                  <a:srgbClr val="0F233C"/>
                </a:solidFill>
                <a:latin typeface="Aptos"/>
              </a:defRPr>
            </a:pPr>
            <a:r>
              <a:t>Development Tools</a:t>
            </a:r>
          </a:p>
        </p:txBody>
      </p:sp>
      <p:sp>
        <p:nvSpPr>
          <p:cNvPr id="28" name="TextBox 27"/>
          <p:cNvSpPr txBox="1"/>
          <p:nvPr/>
        </p:nvSpPr>
        <p:spPr>
          <a:xfrm>
            <a:off x="8275320" y="3584448"/>
            <a:ext cx="3063239" cy="685799"/>
          </a:xfrm>
          <a:prstGeom prst="rect">
            <a:avLst/>
          </a:prstGeom>
          <a:noFill/>
        </p:spPr>
        <p:txBody>
          <a:bodyPr wrap="square">
            <a:spAutoFit/>
          </a:bodyPr>
          <a:lstStyle/>
          <a:p>
            <a:pPr>
              <a:lnSpc>
                <a:spcPct val="105000"/>
              </a:lnSpc>
              <a:defRPr sz="1300">
                <a:solidFill>
                  <a:srgbClr val="232D37"/>
                </a:solidFill>
                <a:latin typeface="Aptos"/>
              </a:defRPr>
            </a:pPr>
            <a:r>
              <a:t>VS Code / IntelliJ IDEA</a:t>
            </a:r>
            <a:br/>
            <a:r>
              <a:t>MySQL Workbench, GitHub, Postman</a:t>
            </a:r>
          </a:p>
        </p:txBody>
      </p:sp>
      <p:sp>
        <p:nvSpPr>
          <p:cNvPr id="29" name="Rounded Rectangle 28"/>
          <p:cNvSpPr/>
          <p:nvPr/>
        </p:nvSpPr>
        <p:spPr>
          <a:xfrm>
            <a:off x="2514600" y="4709160"/>
            <a:ext cx="347472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4600" y="4709160"/>
            <a:ext cx="73152" cy="1143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0" y="4873752"/>
            <a:ext cx="3063239" cy="384048"/>
          </a:xfrm>
          <a:prstGeom prst="rect">
            <a:avLst/>
          </a:prstGeom>
          <a:noFill/>
        </p:spPr>
        <p:txBody>
          <a:bodyPr wrap="none">
            <a:spAutoFit/>
          </a:bodyPr>
          <a:lstStyle/>
          <a:p>
            <a:pPr>
              <a:defRPr sz="1700" b="1">
                <a:solidFill>
                  <a:srgbClr val="0F233C"/>
                </a:solidFill>
                <a:latin typeface="Aptos"/>
              </a:defRPr>
            </a:pPr>
            <a:r>
              <a:t>Core DSA</a:t>
            </a:r>
          </a:p>
        </p:txBody>
      </p:sp>
      <p:sp>
        <p:nvSpPr>
          <p:cNvPr id="32" name="TextBox 31"/>
          <p:cNvSpPr txBox="1"/>
          <p:nvPr/>
        </p:nvSpPr>
        <p:spPr>
          <a:xfrm>
            <a:off x="2743200" y="5367528"/>
            <a:ext cx="3063239" cy="320040"/>
          </a:xfrm>
          <a:prstGeom prst="rect">
            <a:avLst/>
          </a:prstGeom>
          <a:noFill/>
        </p:spPr>
        <p:txBody>
          <a:bodyPr wrap="square">
            <a:spAutoFit/>
          </a:bodyPr>
          <a:lstStyle/>
          <a:p>
            <a:pPr>
              <a:lnSpc>
                <a:spcPct val="105000"/>
              </a:lnSpc>
              <a:defRPr sz="1300">
                <a:solidFill>
                  <a:srgbClr val="232D37"/>
                </a:solidFill>
                <a:latin typeface="Aptos"/>
              </a:defRPr>
            </a:pPr>
            <a:r>
              <a:t>Priority Queue, Queue, Lists, Hashing, Sorting &amp; Searching</a:t>
            </a:r>
          </a:p>
        </p:txBody>
      </p:sp>
      <p:sp>
        <p:nvSpPr>
          <p:cNvPr id="33" name="Rounded Rectangle 32"/>
          <p:cNvSpPr/>
          <p:nvPr/>
        </p:nvSpPr>
        <p:spPr>
          <a:xfrm>
            <a:off x="6199632" y="4709160"/>
            <a:ext cx="347472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199632" y="4709160"/>
            <a:ext cx="73152" cy="1143000"/>
          </a:xfrm>
          <a:prstGeom prst="rect">
            <a:avLst/>
          </a:prstGeom>
          <a:solidFill>
            <a:srgbClr val="23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28232" y="4873752"/>
            <a:ext cx="3063239" cy="384048"/>
          </a:xfrm>
          <a:prstGeom prst="rect">
            <a:avLst/>
          </a:prstGeom>
          <a:noFill/>
        </p:spPr>
        <p:txBody>
          <a:bodyPr wrap="none">
            <a:spAutoFit/>
          </a:bodyPr>
          <a:lstStyle/>
          <a:p>
            <a:pPr>
              <a:defRPr sz="1700" b="1">
                <a:solidFill>
                  <a:srgbClr val="0F233C"/>
                </a:solidFill>
                <a:latin typeface="Aptos"/>
              </a:defRPr>
            </a:pPr>
            <a:r>
              <a:t>Algorithms</a:t>
            </a:r>
          </a:p>
        </p:txBody>
      </p:sp>
      <p:sp>
        <p:nvSpPr>
          <p:cNvPr id="36" name="TextBox 35"/>
          <p:cNvSpPr txBox="1"/>
          <p:nvPr/>
        </p:nvSpPr>
        <p:spPr>
          <a:xfrm>
            <a:off x="6428232" y="5367528"/>
            <a:ext cx="3063239" cy="320040"/>
          </a:xfrm>
          <a:prstGeom prst="rect">
            <a:avLst/>
          </a:prstGeom>
          <a:noFill/>
        </p:spPr>
        <p:txBody>
          <a:bodyPr wrap="square">
            <a:spAutoFit/>
          </a:bodyPr>
          <a:lstStyle/>
          <a:p>
            <a:pPr>
              <a:lnSpc>
                <a:spcPct val="105000"/>
              </a:lnSpc>
              <a:defRPr sz="1300">
                <a:solidFill>
                  <a:srgbClr val="232D37"/>
                </a:solidFill>
                <a:latin typeface="Aptos"/>
              </a:defRPr>
            </a:pPr>
            <a:r>
              <a:t>Greedy / Approximation and optimization techniques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607040" cy="594360"/>
          </a:xfrm>
          <a:prstGeom prst="rect">
            <a:avLst/>
          </a:prstGeom>
          <a:noFill/>
        </p:spPr>
        <p:txBody>
          <a:bodyPr wrap="none">
            <a:spAutoFit/>
          </a:bodyPr>
          <a:lstStyle/>
          <a:p>
            <a:pPr>
              <a:defRPr sz="2800" b="1">
                <a:solidFill>
                  <a:srgbClr val="0F233C"/>
                </a:solidFill>
                <a:latin typeface="Aptos Display"/>
              </a:defRPr>
            </a:pPr>
            <a:r>
              <a:t>Hardware Requirements</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latin typeface="Aptos"/>
              </a:defRPr>
            </a:pPr>
            <a:r>
              <a:t>5</a:t>
            </a:r>
          </a:p>
        </p:txBody>
      </p:sp>
      <p:sp>
        <p:nvSpPr>
          <p:cNvPr id="5" name="Rounded Rectangle 4"/>
          <p:cNvSpPr/>
          <p:nvPr/>
        </p:nvSpPr>
        <p:spPr>
          <a:xfrm>
            <a:off x="731520" y="1143000"/>
            <a:ext cx="521208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143000"/>
            <a:ext cx="73152" cy="13258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307592"/>
            <a:ext cx="4800600" cy="384048"/>
          </a:xfrm>
          <a:prstGeom prst="rect">
            <a:avLst/>
          </a:prstGeom>
          <a:noFill/>
        </p:spPr>
        <p:txBody>
          <a:bodyPr wrap="none">
            <a:spAutoFit/>
          </a:bodyPr>
          <a:lstStyle/>
          <a:p>
            <a:pPr>
              <a:defRPr sz="1700" b="1">
                <a:solidFill>
                  <a:srgbClr val="0F233C"/>
                </a:solidFill>
                <a:latin typeface="Aptos"/>
              </a:defRPr>
            </a:pPr>
            <a:r>
              <a:t>Minimum Development System</a:t>
            </a:r>
          </a:p>
        </p:txBody>
      </p:sp>
      <p:sp>
        <p:nvSpPr>
          <p:cNvPr id="8" name="TextBox 7"/>
          <p:cNvSpPr txBox="1"/>
          <p:nvPr/>
        </p:nvSpPr>
        <p:spPr>
          <a:xfrm>
            <a:off x="960120" y="1801368"/>
            <a:ext cx="4800600" cy="502919"/>
          </a:xfrm>
          <a:prstGeom prst="rect">
            <a:avLst/>
          </a:prstGeom>
          <a:noFill/>
        </p:spPr>
        <p:txBody>
          <a:bodyPr wrap="square">
            <a:spAutoFit/>
          </a:bodyPr>
          <a:lstStyle/>
          <a:p>
            <a:pPr>
              <a:lnSpc>
                <a:spcPct val="105000"/>
              </a:lnSpc>
              <a:defRPr sz="1300">
                <a:solidFill>
                  <a:srgbClr val="232D37"/>
                </a:solidFill>
                <a:latin typeface="Aptos"/>
              </a:defRPr>
            </a:pPr>
            <a:r>
              <a:t>Processor: Intel Core i3 / Ryzen 3 or equivalent</a:t>
            </a:r>
            <a:br/>
            <a:r>
              <a:t>RAM: 4 GB</a:t>
            </a:r>
            <a:br/>
            <a:r>
              <a:t>Storage: 10 GB free space</a:t>
            </a:r>
          </a:p>
        </p:txBody>
      </p:sp>
      <p:sp>
        <p:nvSpPr>
          <p:cNvPr id="9" name="Rounded Rectangle 8"/>
          <p:cNvSpPr/>
          <p:nvPr/>
        </p:nvSpPr>
        <p:spPr>
          <a:xfrm>
            <a:off x="6217920" y="1143000"/>
            <a:ext cx="521208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0" y="1143000"/>
            <a:ext cx="73152" cy="1325880"/>
          </a:xfrm>
          <a:prstGeom prst="rect">
            <a:avLst/>
          </a:prstGeom>
          <a:solidFill>
            <a:srgbClr val="23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307592"/>
            <a:ext cx="4800600" cy="384048"/>
          </a:xfrm>
          <a:prstGeom prst="rect">
            <a:avLst/>
          </a:prstGeom>
          <a:noFill/>
        </p:spPr>
        <p:txBody>
          <a:bodyPr wrap="none">
            <a:spAutoFit/>
          </a:bodyPr>
          <a:lstStyle/>
          <a:p>
            <a:pPr>
              <a:defRPr sz="1700" b="1">
                <a:solidFill>
                  <a:srgbClr val="0F233C"/>
                </a:solidFill>
                <a:latin typeface="Aptos"/>
              </a:defRPr>
            </a:pPr>
            <a:r>
              <a:t>Recommended System</a:t>
            </a:r>
          </a:p>
        </p:txBody>
      </p:sp>
      <p:sp>
        <p:nvSpPr>
          <p:cNvPr id="12" name="TextBox 11"/>
          <p:cNvSpPr txBox="1"/>
          <p:nvPr/>
        </p:nvSpPr>
        <p:spPr>
          <a:xfrm>
            <a:off x="6446520" y="1801368"/>
            <a:ext cx="4800600" cy="502919"/>
          </a:xfrm>
          <a:prstGeom prst="rect">
            <a:avLst/>
          </a:prstGeom>
          <a:noFill/>
        </p:spPr>
        <p:txBody>
          <a:bodyPr wrap="square">
            <a:spAutoFit/>
          </a:bodyPr>
          <a:lstStyle/>
          <a:p>
            <a:pPr>
              <a:lnSpc>
                <a:spcPct val="105000"/>
              </a:lnSpc>
              <a:defRPr sz="1300">
                <a:solidFill>
                  <a:srgbClr val="232D37"/>
                </a:solidFill>
                <a:latin typeface="Aptos"/>
              </a:defRPr>
            </a:pPr>
            <a:r>
              <a:t>Processor: Intel Core i5 / Ryzen 5 or better</a:t>
            </a:r>
            <a:br/>
            <a:r>
              <a:t>RAM: 8–16 GB</a:t>
            </a:r>
            <a:br/>
            <a:r>
              <a:t>Storage: 256 GB SSD or higher</a:t>
            </a:r>
          </a:p>
        </p:txBody>
      </p:sp>
      <p:sp>
        <p:nvSpPr>
          <p:cNvPr id="13" name="Rounded Rectangle 12"/>
          <p:cNvSpPr/>
          <p:nvPr/>
        </p:nvSpPr>
        <p:spPr>
          <a:xfrm>
            <a:off x="731520" y="2743200"/>
            <a:ext cx="521208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2743200"/>
            <a:ext cx="73152" cy="13258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2907792"/>
            <a:ext cx="4800600" cy="384048"/>
          </a:xfrm>
          <a:prstGeom prst="rect">
            <a:avLst/>
          </a:prstGeom>
          <a:noFill/>
        </p:spPr>
        <p:txBody>
          <a:bodyPr wrap="none">
            <a:spAutoFit/>
          </a:bodyPr>
          <a:lstStyle/>
          <a:p>
            <a:pPr>
              <a:defRPr sz="1700" b="1">
                <a:solidFill>
                  <a:srgbClr val="0F233C"/>
                </a:solidFill>
                <a:latin typeface="Aptos"/>
              </a:defRPr>
            </a:pPr>
            <a:r>
              <a:t>Display &amp; Peripherals</a:t>
            </a:r>
          </a:p>
        </p:txBody>
      </p:sp>
      <p:sp>
        <p:nvSpPr>
          <p:cNvPr id="16" name="TextBox 15"/>
          <p:cNvSpPr txBox="1"/>
          <p:nvPr/>
        </p:nvSpPr>
        <p:spPr>
          <a:xfrm>
            <a:off x="960120" y="3401568"/>
            <a:ext cx="4800600" cy="502919"/>
          </a:xfrm>
          <a:prstGeom prst="rect">
            <a:avLst/>
          </a:prstGeom>
          <a:noFill/>
        </p:spPr>
        <p:txBody>
          <a:bodyPr wrap="square">
            <a:spAutoFit/>
          </a:bodyPr>
          <a:lstStyle/>
          <a:p>
            <a:pPr>
              <a:lnSpc>
                <a:spcPct val="105000"/>
              </a:lnSpc>
              <a:defRPr sz="1300">
                <a:solidFill>
                  <a:srgbClr val="232D37"/>
                </a:solidFill>
                <a:latin typeface="Aptos"/>
              </a:defRPr>
            </a:pPr>
            <a:r>
              <a:t>Display: 1366 × 768 or higher</a:t>
            </a:r>
            <a:br/>
            <a:r>
              <a:t>Standard keyboard and mouse</a:t>
            </a:r>
          </a:p>
        </p:txBody>
      </p:sp>
      <p:sp>
        <p:nvSpPr>
          <p:cNvPr id="17" name="Rounded Rectangle 16"/>
          <p:cNvSpPr/>
          <p:nvPr/>
        </p:nvSpPr>
        <p:spPr>
          <a:xfrm>
            <a:off x="6217920" y="2743200"/>
            <a:ext cx="521208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2743200"/>
            <a:ext cx="73152" cy="1325880"/>
          </a:xfrm>
          <a:prstGeom prst="rect">
            <a:avLst/>
          </a:prstGeom>
          <a:solidFill>
            <a:srgbClr val="23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907792"/>
            <a:ext cx="4800600" cy="384048"/>
          </a:xfrm>
          <a:prstGeom prst="rect">
            <a:avLst/>
          </a:prstGeom>
          <a:noFill/>
        </p:spPr>
        <p:txBody>
          <a:bodyPr wrap="none">
            <a:spAutoFit/>
          </a:bodyPr>
          <a:lstStyle/>
          <a:p>
            <a:pPr>
              <a:defRPr sz="1700" b="1">
                <a:solidFill>
                  <a:srgbClr val="0F233C"/>
                </a:solidFill>
                <a:latin typeface="Aptos"/>
              </a:defRPr>
            </a:pPr>
            <a:r>
              <a:t>Network</a:t>
            </a:r>
          </a:p>
        </p:txBody>
      </p:sp>
      <p:sp>
        <p:nvSpPr>
          <p:cNvPr id="20" name="TextBox 19"/>
          <p:cNvSpPr txBox="1"/>
          <p:nvPr/>
        </p:nvSpPr>
        <p:spPr>
          <a:xfrm>
            <a:off x="6446520" y="3401568"/>
            <a:ext cx="4800600" cy="502919"/>
          </a:xfrm>
          <a:prstGeom prst="rect">
            <a:avLst/>
          </a:prstGeom>
          <a:noFill/>
        </p:spPr>
        <p:txBody>
          <a:bodyPr wrap="square">
            <a:spAutoFit/>
          </a:bodyPr>
          <a:lstStyle/>
          <a:p>
            <a:pPr>
              <a:lnSpc>
                <a:spcPct val="105000"/>
              </a:lnSpc>
              <a:defRPr sz="1300">
                <a:solidFill>
                  <a:srgbClr val="232D37"/>
                </a:solidFill>
                <a:latin typeface="Aptos"/>
              </a:defRPr>
            </a:pPr>
            <a:r>
              <a:t>Stable Wi-Fi/Ethernet connection for deployment, APIs and multi-user access.</a:t>
            </a:r>
          </a:p>
        </p:txBody>
      </p:sp>
      <p:sp>
        <p:nvSpPr>
          <p:cNvPr id="21" name="Rounded Rectangle 20"/>
          <p:cNvSpPr/>
          <p:nvPr/>
        </p:nvSpPr>
        <p:spPr>
          <a:xfrm>
            <a:off x="2057400" y="4434840"/>
            <a:ext cx="8046720" cy="11887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057400" y="4434840"/>
            <a:ext cx="73152" cy="11887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86000" y="4599431"/>
            <a:ext cx="7635240" cy="384048"/>
          </a:xfrm>
          <a:prstGeom prst="rect">
            <a:avLst/>
          </a:prstGeom>
          <a:noFill/>
        </p:spPr>
        <p:txBody>
          <a:bodyPr wrap="none">
            <a:spAutoFit/>
          </a:bodyPr>
          <a:lstStyle/>
          <a:p>
            <a:pPr>
              <a:defRPr sz="1700" b="1">
                <a:solidFill>
                  <a:srgbClr val="0F233C"/>
                </a:solidFill>
                <a:latin typeface="Aptos"/>
              </a:defRPr>
            </a:pPr>
            <a:r>
              <a:t>Server / Deployment</a:t>
            </a:r>
          </a:p>
        </p:txBody>
      </p:sp>
      <p:sp>
        <p:nvSpPr>
          <p:cNvPr id="24" name="TextBox 23"/>
          <p:cNvSpPr txBox="1"/>
          <p:nvPr/>
        </p:nvSpPr>
        <p:spPr>
          <a:xfrm>
            <a:off x="2286000" y="5093207"/>
            <a:ext cx="7635240" cy="365760"/>
          </a:xfrm>
          <a:prstGeom prst="rect">
            <a:avLst/>
          </a:prstGeom>
          <a:noFill/>
        </p:spPr>
        <p:txBody>
          <a:bodyPr wrap="square">
            <a:spAutoFit/>
          </a:bodyPr>
          <a:lstStyle/>
          <a:p>
            <a:pPr>
              <a:lnSpc>
                <a:spcPct val="105000"/>
              </a:lnSpc>
              <a:defRPr sz="1300">
                <a:solidFill>
                  <a:srgbClr val="232D37"/>
                </a:solidFill>
                <a:latin typeface="Aptos"/>
              </a:defRPr>
            </a:pPr>
            <a:r>
              <a:t>Multi-core processor, 8 GB+ RAM, SSD storage, reliable network and backup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607040" cy="594360"/>
          </a:xfrm>
          <a:prstGeom prst="rect">
            <a:avLst/>
          </a:prstGeom>
          <a:noFill/>
        </p:spPr>
        <p:txBody>
          <a:bodyPr wrap="none">
            <a:spAutoFit/>
          </a:bodyPr>
          <a:lstStyle/>
          <a:p>
            <a:pPr>
              <a:defRPr sz="2800" b="1">
                <a:solidFill>
                  <a:srgbClr val="0F233C"/>
                </a:solidFill>
                <a:latin typeface="Aptos Display"/>
              </a:defRPr>
            </a:pPr>
            <a:r>
              <a:t>Methodology</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latin typeface="Aptos"/>
              </a:defRPr>
            </a:pPr>
            <a:r>
              <a:t>6</a:t>
            </a:r>
          </a:p>
        </p:txBody>
      </p:sp>
      <p:sp>
        <p:nvSpPr>
          <p:cNvPr id="5" name="Oval 4"/>
          <p:cNvSpPr/>
          <p:nvPr/>
        </p:nvSpPr>
        <p:spPr>
          <a:xfrm>
            <a:off x="777240" y="1097280"/>
            <a:ext cx="475488" cy="47548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152144"/>
            <a:ext cx="475488" cy="320040"/>
          </a:xfrm>
          <a:prstGeom prst="rect">
            <a:avLst/>
          </a:prstGeom>
          <a:noFill/>
        </p:spPr>
        <p:txBody>
          <a:bodyPr wrap="none">
            <a:spAutoFit/>
          </a:bodyPr>
          <a:lstStyle/>
          <a:p>
            <a:pPr algn="ctr">
              <a:defRPr sz="1400" b="1">
                <a:solidFill>
                  <a:srgbClr val="FFFFFF"/>
                </a:solidFill>
                <a:latin typeface="Aptos"/>
              </a:defRPr>
            </a:pPr>
            <a:r>
              <a:t>1</a:t>
            </a:r>
          </a:p>
        </p:txBody>
      </p:sp>
      <p:sp>
        <p:nvSpPr>
          <p:cNvPr id="7" name="TextBox 6"/>
          <p:cNvSpPr txBox="1"/>
          <p:nvPr/>
        </p:nvSpPr>
        <p:spPr>
          <a:xfrm>
            <a:off x="1417320" y="1078992"/>
            <a:ext cx="1920240" cy="347472"/>
          </a:xfrm>
          <a:prstGeom prst="rect">
            <a:avLst/>
          </a:prstGeom>
          <a:noFill/>
        </p:spPr>
        <p:txBody>
          <a:bodyPr wrap="none">
            <a:spAutoFit/>
          </a:bodyPr>
          <a:lstStyle/>
          <a:p>
            <a:pPr>
              <a:defRPr sz="1600" b="1">
                <a:solidFill>
                  <a:srgbClr val="0F233C"/>
                </a:solidFill>
                <a:latin typeface="Aptos"/>
              </a:defRPr>
            </a:pPr>
            <a:r>
              <a:t>Patient Data</a:t>
            </a:r>
          </a:p>
        </p:txBody>
      </p:sp>
      <p:sp>
        <p:nvSpPr>
          <p:cNvPr id="8" name="TextBox 7"/>
          <p:cNvSpPr txBox="1"/>
          <p:nvPr/>
        </p:nvSpPr>
        <p:spPr>
          <a:xfrm>
            <a:off x="3246120" y="1078992"/>
            <a:ext cx="7955279" cy="438912"/>
          </a:xfrm>
          <a:prstGeom prst="rect">
            <a:avLst/>
          </a:prstGeom>
          <a:noFill/>
        </p:spPr>
        <p:txBody>
          <a:bodyPr wrap="none">
            <a:spAutoFit/>
          </a:bodyPr>
          <a:lstStyle/>
          <a:p>
            <a:pPr>
              <a:defRPr sz="1400">
                <a:solidFill>
                  <a:srgbClr val="232D37"/>
                </a:solidFill>
                <a:latin typeface="Aptos"/>
              </a:defRPr>
            </a:pPr>
            <a:r>
              <a:t>Collect patient details, treatment time and priority.</a:t>
            </a:r>
          </a:p>
        </p:txBody>
      </p:sp>
      <p:sp>
        <p:nvSpPr>
          <p:cNvPr id="9" name="Rectangle 8"/>
          <p:cNvSpPr/>
          <p:nvPr/>
        </p:nvSpPr>
        <p:spPr>
          <a:xfrm>
            <a:off x="996696" y="1572768"/>
            <a:ext cx="27432" cy="301752"/>
          </a:xfrm>
          <a:prstGeom prst="rect">
            <a:avLst/>
          </a:prstGeom>
          <a:solidFill>
            <a:srgbClr val="B4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1874519"/>
            <a:ext cx="475488" cy="47548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929384"/>
            <a:ext cx="475488" cy="320040"/>
          </a:xfrm>
          <a:prstGeom prst="rect">
            <a:avLst/>
          </a:prstGeom>
          <a:noFill/>
        </p:spPr>
        <p:txBody>
          <a:bodyPr wrap="none">
            <a:spAutoFit/>
          </a:bodyPr>
          <a:lstStyle/>
          <a:p>
            <a:pPr algn="ctr">
              <a:defRPr sz="1400" b="1">
                <a:solidFill>
                  <a:srgbClr val="FFFFFF"/>
                </a:solidFill>
                <a:latin typeface="Aptos"/>
              </a:defRPr>
            </a:pPr>
            <a:r>
              <a:t>2</a:t>
            </a:r>
          </a:p>
        </p:txBody>
      </p:sp>
      <p:sp>
        <p:nvSpPr>
          <p:cNvPr id="12" name="TextBox 11"/>
          <p:cNvSpPr txBox="1"/>
          <p:nvPr/>
        </p:nvSpPr>
        <p:spPr>
          <a:xfrm>
            <a:off x="1417320" y="1856231"/>
            <a:ext cx="1920240" cy="347472"/>
          </a:xfrm>
          <a:prstGeom prst="rect">
            <a:avLst/>
          </a:prstGeom>
          <a:noFill/>
        </p:spPr>
        <p:txBody>
          <a:bodyPr wrap="none">
            <a:spAutoFit/>
          </a:bodyPr>
          <a:lstStyle/>
          <a:p>
            <a:pPr>
              <a:defRPr sz="1600" b="1">
                <a:solidFill>
                  <a:srgbClr val="0F233C"/>
                </a:solidFill>
                <a:latin typeface="Aptos"/>
              </a:defRPr>
            </a:pPr>
            <a:r>
              <a:t>Resource Check</a:t>
            </a:r>
          </a:p>
        </p:txBody>
      </p:sp>
      <p:sp>
        <p:nvSpPr>
          <p:cNvPr id="13" name="TextBox 12"/>
          <p:cNvSpPr txBox="1"/>
          <p:nvPr/>
        </p:nvSpPr>
        <p:spPr>
          <a:xfrm>
            <a:off x="3246120" y="1856231"/>
            <a:ext cx="7955279" cy="438912"/>
          </a:xfrm>
          <a:prstGeom prst="rect">
            <a:avLst/>
          </a:prstGeom>
          <a:noFill/>
        </p:spPr>
        <p:txBody>
          <a:bodyPr wrap="none">
            <a:spAutoFit/>
          </a:bodyPr>
          <a:lstStyle/>
          <a:p>
            <a:pPr>
              <a:defRPr sz="1400">
                <a:solidFill>
                  <a:srgbClr val="232D37"/>
                </a:solidFill>
                <a:latin typeface="Aptos"/>
              </a:defRPr>
            </a:pPr>
            <a:r>
              <a:t>Check beds, operating rooms, doctors and staff.</a:t>
            </a:r>
          </a:p>
        </p:txBody>
      </p:sp>
      <p:sp>
        <p:nvSpPr>
          <p:cNvPr id="14" name="Rectangle 13"/>
          <p:cNvSpPr/>
          <p:nvPr/>
        </p:nvSpPr>
        <p:spPr>
          <a:xfrm>
            <a:off x="996696" y="2350008"/>
            <a:ext cx="27432" cy="301752"/>
          </a:xfrm>
          <a:prstGeom prst="rect">
            <a:avLst/>
          </a:prstGeom>
          <a:solidFill>
            <a:srgbClr val="B4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77240" y="2651760"/>
            <a:ext cx="475488" cy="47548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2706624"/>
            <a:ext cx="475488" cy="320040"/>
          </a:xfrm>
          <a:prstGeom prst="rect">
            <a:avLst/>
          </a:prstGeom>
          <a:noFill/>
        </p:spPr>
        <p:txBody>
          <a:bodyPr wrap="none">
            <a:spAutoFit/>
          </a:bodyPr>
          <a:lstStyle/>
          <a:p>
            <a:pPr algn="ctr">
              <a:defRPr sz="1400" b="1">
                <a:solidFill>
                  <a:srgbClr val="FFFFFF"/>
                </a:solidFill>
                <a:latin typeface="Aptos"/>
              </a:defRPr>
            </a:pPr>
            <a:r>
              <a:t>3</a:t>
            </a:r>
          </a:p>
        </p:txBody>
      </p:sp>
      <p:sp>
        <p:nvSpPr>
          <p:cNvPr id="17" name="TextBox 16"/>
          <p:cNvSpPr txBox="1"/>
          <p:nvPr/>
        </p:nvSpPr>
        <p:spPr>
          <a:xfrm>
            <a:off x="1417320" y="2633472"/>
            <a:ext cx="1920240" cy="347472"/>
          </a:xfrm>
          <a:prstGeom prst="rect">
            <a:avLst/>
          </a:prstGeom>
          <a:noFill/>
        </p:spPr>
        <p:txBody>
          <a:bodyPr wrap="none">
            <a:spAutoFit/>
          </a:bodyPr>
          <a:lstStyle/>
          <a:p>
            <a:pPr>
              <a:defRPr sz="1600" b="1">
                <a:solidFill>
                  <a:srgbClr val="0F233C"/>
                </a:solidFill>
                <a:latin typeface="Aptos"/>
              </a:defRPr>
            </a:pPr>
            <a:r>
              <a:t>Constraint Check</a:t>
            </a:r>
          </a:p>
        </p:txBody>
      </p:sp>
      <p:sp>
        <p:nvSpPr>
          <p:cNvPr id="18" name="TextBox 17"/>
          <p:cNvSpPr txBox="1"/>
          <p:nvPr/>
        </p:nvSpPr>
        <p:spPr>
          <a:xfrm>
            <a:off x="3246120" y="2633472"/>
            <a:ext cx="7955279" cy="438912"/>
          </a:xfrm>
          <a:prstGeom prst="rect">
            <a:avLst/>
          </a:prstGeom>
          <a:noFill/>
        </p:spPr>
        <p:txBody>
          <a:bodyPr wrap="none">
            <a:spAutoFit/>
          </a:bodyPr>
          <a:lstStyle/>
          <a:p>
            <a:pPr>
              <a:defRPr sz="1400">
                <a:solidFill>
                  <a:srgbClr val="232D37"/>
                </a:solidFill>
                <a:latin typeface="Aptos"/>
              </a:defRPr>
            </a:pPr>
            <a:r>
              <a:t>Verify capacity, availability and time conflicts.</a:t>
            </a:r>
          </a:p>
        </p:txBody>
      </p:sp>
      <p:sp>
        <p:nvSpPr>
          <p:cNvPr id="19" name="Rectangle 18"/>
          <p:cNvSpPr/>
          <p:nvPr/>
        </p:nvSpPr>
        <p:spPr>
          <a:xfrm>
            <a:off x="996696" y="3127248"/>
            <a:ext cx="27432" cy="301752"/>
          </a:xfrm>
          <a:prstGeom prst="rect">
            <a:avLst/>
          </a:prstGeom>
          <a:solidFill>
            <a:srgbClr val="B4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77240" y="3429000"/>
            <a:ext cx="475488" cy="47548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483864"/>
            <a:ext cx="475488" cy="320040"/>
          </a:xfrm>
          <a:prstGeom prst="rect">
            <a:avLst/>
          </a:prstGeom>
          <a:noFill/>
        </p:spPr>
        <p:txBody>
          <a:bodyPr wrap="none">
            <a:spAutoFit/>
          </a:bodyPr>
          <a:lstStyle/>
          <a:p>
            <a:pPr algn="ctr">
              <a:defRPr sz="1400" b="1">
                <a:solidFill>
                  <a:srgbClr val="FFFFFF"/>
                </a:solidFill>
                <a:latin typeface="Aptos"/>
              </a:defRPr>
            </a:pPr>
            <a:r>
              <a:t>4</a:t>
            </a:r>
          </a:p>
        </p:txBody>
      </p:sp>
      <p:sp>
        <p:nvSpPr>
          <p:cNvPr id="22" name="TextBox 21"/>
          <p:cNvSpPr txBox="1"/>
          <p:nvPr/>
        </p:nvSpPr>
        <p:spPr>
          <a:xfrm>
            <a:off x="1417320" y="3410712"/>
            <a:ext cx="1920240" cy="347472"/>
          </a:xfrm>
          <a:prstGeom prst="rect">
            <a:avLst/>
          </a:prstGeom>
          <a:noFill/>
        </p:spPr>
        <p:txBody>
          <a:bodyPr wrap="none">
            <a:spAutoFit/>
          </a:bodyPr>
          <a:lstStyle/>
          <a:p>
            <a:pPr>
              <a:defRPr sz="1600" b="1">
                <a:solidFill>
                  <a:srgbClr val="0F233C"/>
                </a:solidFill>
                <a:latin typeface="Aptos"/>
              </a:defRPr>
            </a:pPr>
            <a:r>
              <a:t>Scheduling</a:t>
            </a:r>
          </a:p>
        </p:txBody>
      </p:sp>
      <p:sp>
        <p:nvSpPr>
          <p:cNvPr id="23" name="TextBox 22"/>
          <p:cNvSpPr txBox="1"/>
          <p:nvPr/>
        </p:nvSpPr>
        <p:spPr>
          <a:xfrm>
            <a:off x="3246120" y="3410712"/>
            <a:ext cx="7955279" cy="438912"/>
          </a:xfrm>
          <a:prstGeom prst="rect">
            <a:avLst/>
          </a:prstGeom>
          <a:noFill/>
        </p:spPr>
        <p:txBody>
          <a:bodyPr wrap="none">
            <a:spAutoFit/>
          </a:bodyPr>
          <a:lstStyle/>
          <a:p>
            <a:pPr>
              <a:defRPr sz="1400">
                <a:solidFill>
                  <a:srgbClr val="232D37"/>
                </a:solidFill>
                <a:latin typeface="Aptos"/>
              </a:defRPr>
            </a:pPr>
            <a:r>
              <a:t>Apply optimization / approximation based scheduling.</a:t>
            </a:r>
          </a:p>
        </p:txBody>
      </p:sp>
      <p:sp>
        <p:nvSpPr>
          <p:cNvPr id="24" name="Rectangle 23"/>
          <p:cNvSpPr/>
          <p:nvPr/>
        </p:nvSpPr>
        <p:spPr>
          <a:xfrm>
            <a:off x="996696" y="3904487"/>
            <a:ext cx="27432" cy="301752"/>
          </a:xfrm>
          <a:prstGeom prst="rect">
            <a:avLst/>
          </a:prstGeom>
          <a:solidFill>
            <a:srgbClr val="B4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77240" y="4206240"/>
            <a:ext cx="475488" cy="47548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261103"/>
            <a:ext cx="475488" cy="320040"/>
          </a:xfrm>
          <a:prstGeom prst="rect">
            <a:avLst/>
          </a:prstGeom>
          <a:noFill/>
        </p:spPr>
        <p:txBody>
          <a:bodyPr wrap="none">
            <a:spAutoFit/>
          </a:bodyPr>
          <a:lstStyle/>
          <a:p>
            <a:pPr algn="ctr">
              <a:defRPr sz="1400" b="1">
                <a:solidFill>
                  <a:srgbClr val="FFFFFF"/>
                </a:solidFill>
                <a:latin typeface="Aptos"/>
              </a:defRPr>
            </a:pPr>
            <a:r>
              <a:t>5</a:t>
            </a:r>
          </a:p>
        </p:txBody>
      </p:sp>
      <p:sp>
        <p:nvSpPr>
          <p:cNvPr id="27" name="TextBox 26"/>
          <p:cNvSpPr txBox="1"/>
          <p:nvPr/>
        </p:nvSpPr>
        <p:spPr>
          <a:xfrm>
            <a:off x="1417320" y="4187952"/>
            <a:ext cx="1920240" cy="347472"/>
          </a:xfrm>
          <a:prstGeom prst="rect">
            <a:avLst/>
          </a:prstGeom>
          <a:noFill/>
        </p:spPr>
        <p:txBody>
          <a:bodyPr wrap="none">
            <a:spAutoFit/>
          </a:bodyPr>
          <a:lstStyle/>
          <a:p>
            <a:pPr>
              <a:defRPr sz="1600" b="1">
                <a:solidFill>
                  <a:srgbClr val="0F233C"/>
                </a:solidFill>
                <a:latin typeface="Aptos"/>
              </a:defRPr>
            </a:pPr>
            <a:r>
              <a:t>Dynamic Update</a:t>
            </a:r>
          </a:p>
        </p:txBody>
      </p:sp>
      <p:sp>
        <p:nvSpPr>
          <p:cNvPr id="28" name="TextBox 27"/>
          <p:cNvSpPr txBox="1"/>
          <p:nvPr/>
        </p:nvSpPr>
        <p:spPr>
          <a:xfrm>
            <a:off x="3246120" y="4187952"/>
            <a:ext cx="7955279" cy="438912"/>
          </a:xfrm>
          <a:prstGeom prst="rect">
            <a:avLst/>
          </a:prstGeom>
          <a:noFill/>
        </p:spPr>
        <p:txBody>
          <a:bodyPr wrap="none">
            <a:spAutoFit/>
          </a:bodyPr>
          <a:lstStyle/>
          <a:p>
            <a:pPr>
              <a:defRPr sz="1400">
                <a:solidFill>
                  <a:srgbClr val="232D37"/>
                </a:solidFill>
                <a:latin typeface="Aptos"/>
              </a:defRPr>
            </a:pPr>
            <a:r>
              <a:t>Handle emergencies, cancellations and changes.</a:t>
            </a:r>
          </a:p>
        </p:txBody>
      </p:sp>
      <p:sp>
        <p:nvSpPr>
          <p:cNvPr id="29" name="Rectangle 28"/>
          <p:cNvSpPr/>
          <p:nvPr/>
        </p:nvSpPr>
        <p:spPr>
          <a:xfrm>
            <a:off x="996696" y="4681727"/>
            <a:ext cx="27432" cy="301752"/>
          </a:xfrm>
          <a:prstGeom prst="rect">
            <a:avLst/>
          </a:prstGeom>
          <a:solidFill>
            <a:srgbClr val="B4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77240" y="4983480"/>
            <a:ext cx="475488" cy="47548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038344"/>
            <a:ext cx="475488" cy="320040"/>
          </a:xfrm>
          <a:prstGeom prst="rect">
            <a:avLst/>
          </a:prstGeom>
          <a:noFill/>
        </p:spPr>
        <p:txBody>
          <a:bodyPr wrap="none">
            <a:spAutoFit/>
          </a:bodyPr>
          <a:lstStyle/>
          <a:p>
            <a:pPr algn="ctr">
              <a:defRPr sz="1400" b="1">
                <a:solidFill>
                  <a:srgbClr val="FFFFFF"/>
                </a:solidFill>
                <a:latin typeface="Aptos"/>
              </a:defRPr>
            </a:pPr>
            <a:r>
              <a:t>6</a:t>
            </a:r>
          </a:p>
        </p:txBody>
      </p:sp>
      <p:sp>
        <p:nvSpPr>
          <p:cNvPr id="32" name="TextBox 31"/>
          <p:cNvSpPr txBox="1"/>
          <p:nvPr/>
        </p:nvSpPr>
        <p:spPr>
          <a:xfrm>
            <a:off x="1417320" y="4965192"/>
            <a:ext cx="1920240" cy="347472"/>
          </a:xfrm>
          <a:prstGeom prst="rect">
            <a:avLst/>
          </a:prstGeom>
          <a:noFill/>
        </p:spPr>
        <p:txBody>
          <a:bodyPr wrap="none">
            <a:spAutoFit/>
          </a:bodyPr>
          <a:lstStyle/>
          <a:p>
            <a:pPr>
              <a:defRPr sz="1600" b="1">
                <a:solidFill>
                  <a:srgbClr val="0F233C"/>
                </a:solidFill>
                <a:latin typeface="Aptos"/>
              </a:defRPr>
            </a:pPr>
            <a:r>
              <a:t>Dashboard</a:t>
            </a:r>
          </a:p>
        </p:txBody>
      </p:sp>
      <p:sp>
        <p:nvSpPr>
          <p:cNvPr id="33" name="TextBox 32"/>
          <p:cNvSpPr txBox="1"/>
          <p:nvPr/>
        </p:nvSpPr>
        <p:spPr>
          <a:xfrm>
            <a:off x="3246120" y="4965192"/>
            <a:ext cx="7955279" cy="438912"/>
          </a:xfrm>
          <a:prstGeom prst="rect">
            <a:avLst/>
          </a:prstGeom>
          <a:noFill/>
        </p:spPr>
        <p:txBody>
          <a:bodyPr wrap="none">
            <a:spAutoFit/>
          </a:bodyPr>
          <a:lstStyle/>
          <a:p>
            <a:pPr>
              <a:defRPr sz="1400">
                <a:solidFill>
                  <a:srgbClr val="232D37"/>
                </a:solidFill>
                <a:latin typeface="Aptos"/>
              </a:defRPr>
            </a:pPr>
            <a:r>
              <a:t>Update resources, schedules and reports.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607040" cy="594360"/>
          </a:xfrm>
          <a:prstGeom prst="rect">
            <a:avLst/>
          </a:prstGeom>
          <a:noFill/>
        </p:spPr>
        <p:txBody>
          <a:bodyPr wrap="none">
            <a:spAutoFit/>
          </a:bodyPr>
          <a:lstStyle/>
          <a:p>
            <a:pPr>
              <a:defRPr sz="2800" b="1">
                <a:solidFill>
                  <a:srgbClr val="0F233C"/>
                </a:solidFill>
                <a:latin typeface="Aptos Display"/>
              </a:defRPr>
            </a:pPr>
            <a:r>
              <a:t>Literature Survey</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latin typeface="Aptos"/>
              </a:defRPr>
            </a:pPr>
            <a:r>
              <a:t>7</a:t>
            </a:r>
          </a:p>
        </p:txBody>
      </p:sp>
      <p:graphicFrame>
        <p:nvGraphicFramePr>
          <p:cNvPr id="5" name="Table 4"/>
          <p:cNvGraphicFramePr>
            <a:graphicFrameLocks noGrp="1"/>
          </p:cNvGraphicFramePr>
          <p:nvPr/>
        </p:nvGraphicFramePr>
        <p:xfrm>
          <a:off x="411480" y="1143000"/>
          <a:ext cx="11338560" cy="49834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711925">
                <a:tc>
                  <a:txBody>
                    <a:bodyPr/>
                    <a:lstStyle/>
                    <a:p>
                      <a:pPr algn="ctr">
                        <a:defRPr sz="1300" b="1">
                          <a:solidFill>
                            <a:srgbClr val="FFFFFF"/>
                          </a:solidFill>
                          <a:latin typeface="Aptos"/>
                        </a:defRPr>
                      </a:pPr>
                      <a:r>
                        <a:t>Area</a:t>
                      </a:r>
                    </a:p>
                  </a:txBody>
                  <a:tcPr>
                    <a:solidFill>
                      <a:srgbClr val="0F233C"/>
                    </a:solidFill>
                  </a:tcPr>
                </a:tc>
                <a:tc>
                  <a:txBody>
                    <a:bodyPr/>
                    <a:lstStyle/>
                    <a:p>
                      <a:pPr algn="ctr">
                        <a:defRPr sz="1300" b="1">
                          <a:solidFill>
                            <a:srgbClr val="FFFFFF"/>
                          </a:solidFill>
                          <a:latin typeface="Aptos"/>
                        </a:defRPr>
                      </a:pPr>
                      <a:r>
                        <a:t>Existing Approach</a:t>
                      </a:r>
                    </a:p>
                  </a:txBody>
                  <a:tcPr>
                    <a:solidFill>
                      <a:srgbClr val="0F233C"/>
                    </a:solidFill>
                  </a:tcPr>
                </a:tc>
                <a:tc>
                  <a:txBody>
                    <a:bodyPr/>
                    <a:lstStyle/>
                    <a:p>
                      <a:pPr algn="ctr">
                        <a:defRPr sz="1300" b="1">
                          <a:solidFill>
                            <a:srgbClr val="FFFFFF"/>
                          </a:solidFill>
                          <a:latin typeface="Aptos"/>
                        </a:defRPr>
                      </a:pPr>
                      <a:r>
                        <a:t>Limitation</a:t>
                      </a:r>
                    </a:p>
                  </a:txBody>
                  <a:tcPr>
                    <a:solidFill>
                      <a:srgbClr val="0F233C"/>
                    </a:solidFill>
                  </a:tcPr>
                </a:tc>
                <a:tc>
                  <a:txBody>
                    <a:bodyPr/>
                    <a:lstStyle/>
                    <a:p>
                      <a:pPr algn="ctr">
                        <a:defRPr sz="1300" b="1">
                          <a:solidFill>
                            <a:srgbClr val="FFFFFF"/>
                          </a:solidFill>
                          <a:latin typeface="Aptos"/>
                        </a:defRPr>
                      </a:pPr>
                      <a:r>
                        <a:t>Proposed Direction</a:t>
                      </a:r>
                    </a:p>
                  </a:txBody>
                  <a:tcPr>
                    <a:solidFill>
                      <a:srgbClr val="0F233C"/>
                    </a:solidFill>
                  </a:tcPr>
                </a:tc>
                <a:extLst>
                  <a:ext uri="{0D108BD9-81ED-4DB2-BD59-A6C34878D82A}">
                    <a16:rowId xmlns:a16="http://schemas.microsoft.com/office/drawing/2014/main" val="10000"/>
                  </a:ext>
                </a:extLst>
              </a:tr>
              <a:tr h="711925">
                <a:tc>
                  <a:txBody>
                    <a:bodyPr/>
                    <a:lstStyle/>
                    <a:p>
                      <a:pPr algn="ctr">
                        <a:defRPr sz="1150">
                          <a:solidFill>
                            <a:srgbClr val="232D37"/>
                          </a:solidFill>
                          <a:latin typeface="Aptos"/>
                        </a:defRPr>
                      </a:pPr>
                      <a:r>
                        <a:t>Bed Scheduling</a:t>
                      </a:r>
                    </a:p>
                  </a:txBody>
                  <a:tcPr anchor="ctr">
                    <a:solidFill>
                      <a:srgbClr val="FFFFFF"/>
                    </a:solidFill>
                  </a:tcPr>
                </a:tc>
                <a:tc>
                  <a:txBody>
                    <a:bodyPr/>
                    <a:lstStyle/>
                    <a:p>
                      <a:pPr algn="ctr">
                        <a:defRPr sz="1150">
                          <a:solidFill>
                            <a:srgbClr val="232D37"/>
                          </a:solidFill>
                          <a:latin typeface="Aptos"/>
                        </a:defRPr>
                      </a:pPr>
                      <a:r>
                        <a:t>Manual / rule-based allocation</a:t>
                      </a:r>
                    </a:p>
                  </a:txBody>
                  <a:tcPr anchor="ctr">
                    <a:solidFill>
                      <a:srgbClr val="FFFFFF"/>
                    </a:solidFill>
                  </a:tcPr>
                </a:tc>
                <a:tc>
                  <a:txBody>
                    <a:bodyPr/>
                    <a:lstStyle/>
                    <a:p>
                      <a:pPr algn="ctr">
                        <a:defRPr sz="1150">
                          <a:solidFill>
                            <a:srgbClr val="232D37"/>
                          </a:solidFill>
                          <a:latin typeface="Aptos"/>
                        </a:defRPr>
                      </a:pPr>
                      <a:r>
                        <a:t>Time-consuming; error-prone</a:t>
                      </a:r>
                    </a:p>
                  </a:txBody>
                  <a:tcPr anchor="ctr">
                    <a:solidFill>
                      <a:srgbClr val="FFFFFF"/>
                    </a:solidFill>
                  </a:tcPr>
                </a:tc>
                <a:tc>
                  <a:txBody>
                    <a:bodyPr/>
                    <a:lstStyle/>
                    <a:p>
                      <a:pPr algn="ctr">
                        <a:defRPr sz="1150">
                          <a:solidFill>
                            <a:srgbClr val="232D37"/>
                          </a:solidFill>
                          <a:latin typeface="Aptos"/>
                        </a:defRPr>
                      </a:pPr>
                      <a:r>
                        <a:t>Automated allocation</a:t>
                      </a:r>
                    </a:p>
                  </a:txBody>
                  <a:tcPr anchor="ctr">
                    <a:solidFill>
                      <a:srgbClr val="FFFFFF"/>
                    </a:solidFill>
                  </a:tcPr>
                </a:tc>
                <a:extLst>
                  <a:ext uri="{0D108BD9-81ED-4DB2-BD59-A6C34878D82A}">
                    <a16:rowId xmlns:a16="http://schemas.microsoft.com/office/drawing/2014/main" val="10001"/>
                  </a:ext>
                </a:extLst>
              </a:tr>
              <a:tr h="711925">
                <a:tc>
                  <a:txBody>
                    <a:bodyPr/>
                    <a:lstStyle/>
                    <a:p>
                      <a:pPr algn="ctr">
                        <a:defRPr sz="1150">
                          <a:solidFill>
                            <a:srgbClr val="232D37"/>
                          </a:solidFill>
                          <a:latin typeface="Aptos"/>
                        </a:defRPr>
                      </a:pPr>
                      <a:r>
                        <a:t>Operating Room</a:t>
                      </a:r>
                    </a:p>
                  </a:txBody>
                  <a:tcPr anchor="ctr">
                    <a:solidFill>
                      <a:srgbClr val="E7F1FF"/>
                    </a:solidFill>
                  </a:tcPr>
                </a:tc>
                <a:tc>
                  <a:txBody>
                    <a:bodyPr/>
                    <a:lstStyle/>
                    <a:p>
                      <a:pPr algn="ctr">
                        <a:defRPr sz="1150">
                          <a:solidFill>
                            <a:srgbClr val="232D37"/>
                          </a:solidFill>
                          <a:latin typeface="Aptos"/>
                        </a:defRPr>
                      </a:pPr>
                      <a:r>
                        <a:t>Fixed planned schedules</a:t>
                      </a:r>
                    </a:p>
                  </a:txBody>
                  <a:tcPr anchor="ctr">
                    <a:solidFill>
                      <a:srgbClr val="E7F1FF"/>
                    </a:solidFill>
                  </a:tcPr>
                </a:tc>
                <a:tc>
                  <a:txBody>
                    <a:bodyPr/>
                    <a:lstStyle/>
                    <a:p>
                      <a:pPr algn="ctr">
                        <a:defRPr sz="1150">
                          <a:solidFill>
                            <a:srgbClr val="232D37"/>
                          </a:solidFill>
                          <a:latin typeface="Aptos"/>
                        </a:defRPr>
                      </a:pPr>
                      <a:r>
                        <a:t>Hard to handle emergencies</a:t>
                      </a:r>
                    </a:p>
                  </a:txBody>
                  <a:tcPr anchor="ctr">
                    <a:solidFill>
                      <a:srgbClr val="E7F1FF"/>
                    </a:solidFill>
                  </a:tcPr>
                </a:tc>
                <a:tc>
                  <a:txBody>
                    <a:bodyPr/>
                    <a:lstStyle/>
                    <a:p>
                      <a:pPr algn="ctr">
                        <a:defRPr sz="1150">
                          <a:solidFill>
                            <a:srgbClr val="232D37"/>
                          </a:solidFill>
                          <a:latin typeface="Aptos"/>
                        </a:defRPr>
                      </a:pPr>
                      <a:r>
                        <a:t>Dynamic rescheduling</a:t>
                      </a:r>
                    </a:p>
                  </a:txBody>
                  <a:tcPr anchor="ctr">
                    <a:solidFill>
                      <a:srgbClr val="E7F1FF"/>
                    </a:solidFill>
                  </a:tcPr>
                </a:tc>
                <a:extLst>
                  <a:ext uri="{0D108BD9-81ED-4DB2-BD59-A6C34878D82A}">
                    <a16:rowId xmlns:a16="http://schemas.microsoft.com/office/drawing/2014/main" val="10002"/>
                  </a:ext>
                </a:extLst>
              </a:tr>
              <a:tr h="711925">
                <a:tc>
                  <a:txBody>
                    <a:bodyPr/>
                    <a:lstStyle/>
                    <a:p>
                      <a:pPr algn="ctr">
                        <a:defRPr sz="1150">
                          <a:solidFill>
                            <a:srgbClr val="232D37"/>
                          </a:solidFill>
                          <a:latin typeface="Aptos"/>
                        </a:defRPr>
                      </a:pPr>
                      <a:r>
                        <a:t>Priority Scheduling</a:t>
                      </a:r>
                    </a:p>
                  </a:txBody>
                  <a:tcPr anchor="ctr">
                    <a:solidFill>
                      <a:srgbClr val="FFFFFF"/>
                    </a:solidFill>
                  </a:tcPr>
                </a:tc>
                <a:tc>
                  <a:txBody>
                    <a:bodyPr/>
                    <a:lstStyle/>
                    <a:p>
                      <a:pPr algn="ctr">
                        <a:defRPr sz="1150">
                          <a:solidFill>
                            <a:srgbClr val="232D37"/>
                          </a:solidFill>
                          <a:latin typeface="Aptos"/>
                        </a:defRPr>
                      </a:pPr>
                      <a:r>
                        <a:t>Predefined patient priority</a:t>
                      </a:r>
                    </a:p>
                  </a:txBody>
                  <a:tcPr anchor="ctr">
                    <a:solidFill>
                      <a:srgbClr val="FFFFFF"/>
                    </a:solidFill>
                  </a:tcPr>
                </a:tc>
                <a:tc>
                  <a:txBody>
                    <a:bodyPr/>
                    <a:lstStyle/>
                    <a:p>
                      <a:pPr algn="ctr">
                        <a:defRPr sz="1150">
                          <a:solidFill>
                            <a:srgbClr val="232D37"/>
                          </a:solidFill>
                          <a:latin typeface="Aptos"/>
                        </a:defRPr>
                      </a:pPr>
                      <a:r>
                        <a:t>May ignore multiple resources</a:t>
                      </a:r>
                    </a:p>
                  </a:txBody>
                  <a:tcPr anchor="ctr">
                    <a:solidFill>
                      <a:srgbClr val="FFFFFF"/>
                    </a:solidFill>
                  </a:tcPr>
                </a:tc>
                <a:tc>
                  <a:txBody>
                    <a:bodyPr/>
                    <a:lstStyle/>
                    <a:p>
                      <a:pPr algn="ctr">
                        <a:defRPr sz="1150">
                          <a:solidFill>
                            <a:srgbClr val="232D37"/>
                          </a:solidFill>
                          <a:latin typeface="Aptos"/>
                        </a:defRPr>
                      </a:pPr>
                      <a:r>
                        <a:t>Multi-constraint scheduling</a:t>
                      </a:r>
                    </a:p>
                  </a:txBody>
                  <a:tcPr anchor="ctr">
                    <a:solidFill>
                      <a:srgbClr val="FFFFFF"/>
                    </a:solidFill>
                  </a:tcPr>
                </a:tc>
                <a:extLst>
                  <a:ext uri="{0D108BD9-81ED-4DB2-BD59-A6C34878D82A}">
                    <a16:rowId xmlns:a16="http://schemas.microsoft.com/office/drawing/2014/main" val="10003"/>
                  </a:ext>
                </a:extLst>
              </a:tr>
              <a:tr h="711925">
                <a:tc>
                  <a:txBody>
                    <a:bodyPr/>
                    <a:lstStyle/>
                    <a:p>
                      <a:pPr algn="ctr">
                        <a:defRPr sz="1150">
                          <a:solidFill>
                            <a:srgbClr val="232D37"/>
                          </a:solidFill>
                          <a:latin typeface="Aptos"/>
                        </a:defRPr>
                      </a:pPr>
                      <a:r>
                        <a:t>Resource Optimization</a:t>
                      </a:r>
                    </a:p>
                  </a:txBody>
                  <a:tcPr anchor="ctr">
                    <a:solidFill>
                      <a:srgbClr val="E7F1FF"/>
                    </a:solidFill>
                  </a:tcPr>
                </a:tc>
                <a:tc>
                  <a:txBody>
                    <a:bodyPr/>
                    <a:lstStyle/>
                    <a:p>
                      <a:pPr algn="ctr">
                        <a:defRPr sz="1150">
                          <a:solidFill>
                            <a:srgbClr val="232D37"/>
                          </a:solidFill>
                          <a:latin typeface="Aptos"/>
                        </a:defRPr>
                      </a:pPr>
                      <a:r>
                        <a:t>Optimization techniques</a:t>
                      </a:r>
                    </a:p>
                  </a:txBody>
                  <a:tcPr anchor="ctr">
                    <a:solidFill>
                      <a:srgbClr val="E7F1FF"/>
                    </a:solidFill>
                  </a:tcPr>
                </a:tc>
                <a:tc>
                  <a:txBody>
                    <a:bodyPr/>
                    <a:lstStyle/>
                    <a:p>
                      <a:pPr algn="ctr">
                        <a:defRPr sz="1150">
                          <a:solidFill>
                            <a:srgbClr val="232D37"/>
                          </a:solidFill>
                          <a:latin typeface="Aptos"/>
                        </a:defRPr>
                      </a:pPr>
                      <a:r>
                        <a:t>Complex with many constraints</a:t>
                      </a:r>
                    </a:p>
                  </a:txBody>
                  <a:tcPr anchor="ctr">
                    <a:solidFill>
                      <a:srgbClr val="E7F1FF"/>
                    </a:solidFill>
                  </a:tcPr>
                </a:tc>
                <a:tc>
                  <a:txBody>
                    <a:bodyPr/>
                    <a:lstStyle/>
                    <a:p>
                      <a:pPr algn="ctr">
                        <a:defRPr sz="1150">
                          <a:solidFill>
                            <a:srgbClr val="232D37"/>
                          </a:solidFill>
                          <a:latin typeface="Aptos"/>
                        </a:defRPr>
                      </a:pPr>
                      <a:r>
                        <a:t>Optimization + approximation</a:t>
                      </a:r>
                    </a:p>
                  </a:txBody>
                  <a:tcPr anchor="ctr">
                    <a:solidFill>
                      <a:srgbClr val="E7F1FF"/>
                    </a:solidFill>
                  </a:tcPr>
                </a:tc>
                <a:extLst>
                  <a:ext uri="{0D108BD9-81ED-4DB2-BD59-A6C34878D82A}">
                    <a16:rowId xmlns:a16="http://schemas.microsoft.com/office/drawing/2014/main" val="10004"/>
                  </a:ext>
                </a:extLst>
              </a:tr>
              <a:tr h="711925">
                <a:tc>
                  <a:txBody>
                    <a:bodyPr/>
                    <a:lstStyle/>
                    <a:p>
                      <a:pPr algn="ctr">
                        <a:defRPr sz="1150">
                          <a:solidFill>
                            <a:srgbClr val="232D37"/>
                          </a:solidFill>
                          <a:latin typeface="Aptos"/>
                        </a:defRPr>
                      </a:pPr>
                      <a:r>
                        <a:t>Hospital Dashboard</a:t>
                      </a:r>
                    </a:p>
                  </a:txBody>
                  <a:tcPr anchor="ctr">
                    <a:solidFill>
                      <a:srgbClr val="FFFFFF"/>
                    </a:solidFill>
                  </a:tcPr>
                </a:tc>
                <a:tc>
                  <a:txBody>
                    <a:bodyPr/>
                    <a:lstStyle/>
                    <a:p>
                      <a:pPr algn="ctr">
                        <a:defRPr sz="1150">
                          <a:solidFill>
                            <a:srgbClr val="232D37"/>
                          </a:solidFill>
                          <a:latin typeface="Aptos"/>
                        </a:defRPr>
                      </a:pPr>
                      <a:r>
                        <a:t>Separate information systems</a:t>
                      </a:r>
                    </a:p>
                  </a:txBody>
                  <a:tcPr anchor="ctr">
                    <a:solidFill>
                      <a:srgbClr val="FFFFFF"/>
                    </a:solidFill>
                  </a:tcPr>
                </a:tc>
                <a:tc>
                  <a:txBody>
                    <a:bodyPr/>
                    <a:lstStyle/>
                    <a:p>
                      <a:pPr algn="ctr">
                        <a:defRPr sz="1150">
                          <a:solidFill>
                            <a:srgbClr val="232D37"/>
                          </a:solidFill>
                          <a:latin typeface="Aptos"/>
                        </a:defRPr>
                      </a:pPr>
                      <a:r>
                        <a:t>Information can be fragmented</a:t>
                      </a:r>
                    </a:p>
                  </a:txBody>
                  <a:tcPr anchor="ctr">
                    <a:solidFill>
                      <a:srgbClr val="FFFFFF"/>
                    </a:solidFill>
                  </a:tcPr>
                </a:tc>
                <a:tc>
                  <a:txBody>
                    <a:bodyPr/>
                    <a:lstStyle/>
                    <a:p>
                      <a:pPr algn="ctr">
                        <a:defRPr sz="1150">
                          <a:solidFill>
                            <a:srgbClr val="232D37"/>
                          </a:solidFill>
                          <a:latin typeface="Aptos"/>
                        </a:defRPr>
                      </a:pPr>
                      <a:r>
                        <a:t>Centralized dashboard</a:t>
                      </a:r>
                    </a:p>
                  </a:txBody>
                  <a:tcPr anchor="ctr">
                    <a:solidFill>
                      <a:srgbClr val="FFFFFF"/>
                    </a:solidFill>
                  </a:tcPr>
                </a:tc>
                <a:extLst>
                  <a:ext uri="{0D108BD9-81ED-4DB2-BD59-A6C34878D82A}">
                    <a16:rowId xmlns:a16="http://schemas.microsoft.com/office/drawing/2014/main" val="10005"/>
                  </a:ext>
                </a:extLst>
              </a:tr>
              <a:tr h="711930">
                <a:tc>
                  <a:txBody>
                    <a:bodyPr/>
                    <a:lstStyle/>
                    <a:p>
                      <a:pPr algn="ctr">
                        <a:defRPr sz="1150">
                          <a:solidFill>
                            <a:srgbClr val="232D37"/>
                          </a:solidFill>
                          <a:latin typeface="Aptos"/>
                        </a:defRPr>
                      </a:pPr>
                      <a:r>
                        <a:t>Performance Analysis</a:t>
                      </a:r>
                    </a:p>
                  </a:txBody>
                  <a:tcPr anchor="ctr">
                    <a:solidFill>
                      <a:srgbClr val="E7F1FF"/>
                    </a:solidFill>
                  </a:tcPr>
                </a:tc>
                <a:tc>
                  <a:txBody>
                    <a:bodyPr/>
                    <a:lstStyle/>
                    <a:p>
                      <a:pPr algn="ctr">
                        <a:defRPr sz="1150">
                          <a:solidFill>
                            <a:srgbClr val="232D37"/>
                          </a:solidFill>
                          <a:latin typeface="Aptos"/>
                        </a:defRPr>
                      </a:pPr>
                      <a:r>
                        <a:t>Basic hospital reports</a:t>
                      </a:r>
                    </a:p>
                  </a:txBody>
                  <a:tcPr anchor="ctr">
                    <a:solidFill>
                      <a:srgbClr val="E7F1FF"/>
                    </a:solidFill>
                  </a:tcPr>
                </a:tc>
                <a:tc>
                  <a:txBody>
                    <a:bodyPr/>
                    <a:lstStyle/>
                    <a:p>
                      <a:pPr algn="ctr">
                        <a:defRPr sz="1150">
                          <a:solidFill>
                            <a:srgbClr val="232D37"/>
                          </a:solidFill>
                          <a:latin typeface="Aptos"/>
                        </a:defRPr>
                      </a:pPr>
                      <a:r>
                        <a:t>Limited scheduling metrics</a:t>
                      </a:r>
                    </a:p>
                  </a:txBody>
                  <a:tcPr anchor="ctr">
                    <a:solidFill>
                      <a:srgbClr val="E7F1FF"/>
                    </a:solidFill>
                  </a:tcPr>
                </a:tc>
                <a:tc>
                  <a:txBody>
                    <a:bodyPr/>
                    <a:lstStyle/>
                    <a:p>
                      <a:pPr algn="ctr">
                        <a:defRPr sz="1150">
                          <a:solidFill>
                            <a:srgbClr val="232D37"/>
                          </a:solidFill>
                          <a:latin typeface="Aptos"/>
                        </a:defRPr>
                      </a:pPr>
                      <a:r>
                        <a:t>Utilization + waiting-time metrics</a:t>
                      </a:r>
                    </a:p>
                  </a:txBody>
                  <a:tcPr anchor="ctr">
                    <a:solidFill>
                      <a:srgbClr val="E7F1FF"/>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626</Words>
  <Application>Microsoft Office PowerPoint</Application>
  <PresentationFormat>Widescreen</PresentationFormat>
  <Paragraphs>103</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Korsapati Tejas Reddy</cp:lastModifiedBy>
  <cp:revision>2</cp:revision>
  <dcterms:created xsi:type="dcterms:W3CDTF">2013-01-27T09:14:16Z</dcterms:created>
  <dcterms:modified xsi:type="dcterms:W3CDTF">2026-08-20T05:04:20Z</dcterms:modified>
  <cp:category/>
</cp:coreProperties>
</file>